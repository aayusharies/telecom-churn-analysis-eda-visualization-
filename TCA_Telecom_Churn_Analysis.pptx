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0"/>
            <a:ext cx="82296" cy="20116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Telecom Churn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 Patterns using Python EDA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60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41605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4560" y="4160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03320" y="41605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4160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Seaborn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0" y="416052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41605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4663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7,043 Customers  |  21 Features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850392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pPr indent="0" marL="0">
              <a:buNone/>
            </a:pPr>
            <a:r>
              <a:rPr lang="en-US" sz="13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churn data from a telecom company to uncover retention patterns and identify which customer segments are most at risk of leaving.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" y="29992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" y="3401568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convert SeniorCitizen (0/1) to Yes/No for readability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2402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377440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0128" y="29992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3401568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plots, pie charts, histograms &amp; stacked bars using Seaborn &amp; Matplotlib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224028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377440"/>
            <a:ext cx="530352" cy="53035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3774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0488" y="2999232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90488" y="3401568"/>
            <a:ext cx="2487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customer groups and suggest targeted retention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961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7432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868680"/>
            <a:ext cx="192024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961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2316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/ 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92024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8961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868680"/>
            <a:ext cx="192024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89611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5727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Categories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" y="2788920"/>
            <a:ext cx="416052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88920"/>
            <a:ext cx="6400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SeniorCitizen, Partner, Dependents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788920"/>
            <a:ext cx="416052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788920"/>
            <a:ext cx="6400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282549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73752" y="3108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PhoneService, MultipleLines, InternetService, OnlineSecurity, OnlineBackup, DeviceProtection, TechSupport, Streaming TV/Movies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639312"/>
            <a:ext cx="416052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639312"/>
            <a:ext cx="6400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Contract, PaperlessBilling, PaymentMethod, MonthlyCharges, TotalCharges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160520" cy="71323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3639312"/>
            <a:ext cx="64008" cy="7132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73752" y="39593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(Yes / No)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Libraries Used &amp; Project Setup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68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977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
</a:t>
            </a:r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</a:t>
            </a:r>
            <a:pPr indent="0" marL="0">
              <a:buNone/>
            </a:pPr>
            <a:r>
              <a:rPr lang="en-US" sz="1200" dirty="0">
                <a:solidFill>
                  <a:srgbClr val="78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
</a:t>
            </a:r>
            <a:pPr indent="0" marL="0">
              <a:buNone/>
            </a:pPr>
            <a:r>
              <a:rPr lang="en-US" sz="1200" dirty="0">
                <a:solidFill>
                  <a:srgbClr val="78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</a:t>
            </a:r>
            <a:pPr indent="0" marL="0">
              <a:buNone/>
            </a:pPr>
            <a:r>
              <a:rPr lang="en-US" sz="12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 Churn.csv"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5 rows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68680"/>
            <a:ext cx="64008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0525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1430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grouping and aggregation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490472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90472"/>
            <a:ext cx="64008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527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76479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operations and array manipulation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112264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112264"/>
            <a:ext cx="64008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1488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38658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plotting library for customization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734056"/>
            <a:ext cx="4160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34056"/>
            <a:ext cx="64008" cy="53035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77063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00837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statistical visualizations (countplot, histplot, etc.)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566160"/>
            <a:ext cx="850392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66160"/>
            <a:ext cx="8321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libraries?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provides DataFrame-based data manipulation ideal for tabular CSV data. Seaborn builds on Matplotlib to produce polished statistical charts with minimal code, making it perfect for EDA on a large dataset like this.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Data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8412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→ 0 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each column for null values using isnull().sum()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cause errors in analysis and plots; must be confirmed clean first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3807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All 21 columns showed 0 nulls — dataset was already complete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85623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56232"/>
            <a:ext cx="6400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5740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1892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 → 0 duplicate rows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176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full row duplicates and customerID duplicates separately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 inflate counts and distort churn ratios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duplicates found — data integrity confirmed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90779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07792"/>
            <a:ext cx="6400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10896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29443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SeniorCitizen: 0/1 → 'no'/'yes'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2278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 custom function conv() via .apply() to replace numeric 0/1 with 'no'/'yes'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SeniorCitizen was stored as integer; treating it as categorical makes charts readable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4838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conv(value): return 'yes' if value == 1 else 'no'  →  df['SeniorCitizen'] = df['SeniorCitizen'].apply(conv)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59352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959352"/>
            <a:ext cx="64008" cy="9601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160520"/>
            <a:ext cx="384048" cy="384048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14400" y="39959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— blank entries noted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27939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column had blank strings for new customers (tenure = 0)   </a:t>
            </a:r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have no charges yet; replacing blanks with 0 is logically correct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45354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values mapped to 0 since no service has been billed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Overall Churn Distribution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3840480" cy="2286000"/>
          </a:xfrm>
          <a:prstGeom prst="rect">
            <a:avLst/>
          </a:prstGeom>
          <a:solidFill>
            <a:srgbClr val="1A2A3A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73.46%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Churn)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822960"/>
            <a:ext cx="3840480" cy="2286000"/>
          </a:xfrm>
          <a:prstGeom prst="rect">
            <a:avLst/>
          </a:prstGeom>
          <a:solidFill>
            <a:srgbClr val="1A2A3A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96012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26.54%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84632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(Left)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2735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Used: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3657600"/>
            <a:ext cx="8503920" cy="566928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Plot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593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sns.countplot(x='Churn', data=df)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0" y="3749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absolute count of churned vs retained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4315968"/>
            <a:ext cx="8503920" cy="566928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3616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plt.pie(gb['Churn'], labels=gb.index, autopct='%1.2f%%')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440740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proportional share — easier to grasp the 26% churn rate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Gender &amp; Senior Citizen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Gender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sns.countplot(x='gender', data=df, hue='Churn')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691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89888" y="1728216"/>
            <a:ext cx="2848762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84370" y="17282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2549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389888" y="2066544"/>
            <a:ext cx="1049426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5034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939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89888" y="2688336"/>
            <a:ext cx="293370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9308" y="26883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2625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89888" y="3026664"/>
            <a:ext cx="1039368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74976" y="30266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930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" y="3657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96"/>
                </a:solidFill>
              </a:rPr>
              <a:t>No Churn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Churned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767328"/>
            <a:ext cx="228600" cy="1097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3767328"/>
            <a:ext cx="228600" cy="10972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69080"/>
            <a:ext cx="402336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069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has no significant impact on churn. Male and Female customers churn at nearly identical rates (~25-27%), showing gender is NOT a useful predictor.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8229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by Senior Citizen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sns.histplot(x='SeniorCitizen', hue='Churn', multiple='fill')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1691640"/>
            <a:ext cx="3840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Non-Senior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1031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03911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315200" y="21031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Retained: 76%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2743200"/>
            <a:ext cx="3840480" cy="914400"/>
          </a:xfrm>
          <a:prstGeom prst="rect">
            <a:avLst/>
          </a:prstGeom>
          <a:solidFill>
            <a:srgbClr val="F8FAFC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28163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0" y="31546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09360" y="3090672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15200" y="3154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Retained: 58%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749040"/>
            <a:ext cx="402336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3749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have a 42% churn rate vs 24% for non-seniors. Age is a strong churn predictor — senior customers need dedicated retention programs.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Customer Tenure &amp; Churn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5943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sns.histplot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(x='tenure', data=df, bins=72, hue='Churn', palette=[</a:t>
            </a:r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'darkgreen','crimson'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alpha=0.7)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743200" cy="2926080"/>
          </a:xfrm>
          <a:prstGeom prst="rect">
            <a:avLst/>
          </a:prstGeom>
          <a:solidFill>
            <a:srgbClr val="1A2A3A"/>
          </a:solidFill>
          <a:ln w="254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743200" cy="3840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0–12 months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~50%+ churn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have highest churn — likely haven't found value yet or found a better deal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82112" y="1554480"/>
            <a:ext cx="2743200" cy="2926080"/>
          </a:xfrm>
          <a:prstGeom prst="rect">
            <a:avLst/>
          </a:prstGeom>
          <a:solidFill>
            <a:srgbClr val="1A2A3A"/>
          </a:solidFill>
          <a:ln w="254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554480"/>
            <a:ext cx="2743200" cy="38404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73552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13–24 months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73552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E79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Declining churn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19272" y="288036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drops as customers invest more in the service and switching cost increases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44184" y="1554480"/>
            <a:ext cx="2743200" cy="2926080"/>
          </a:xfrm>
          <a:prstGeom prst="rect">
            <a:avLst/>
          </a:prstGeom>
          <a:solidFill>
            <a:srgbClr val="1A2A3A"/>
          </a:solidFill>
          <a:ln w="254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44184" y="1554480"/>
            <a:ext cx="274320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44184" y="1554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35624" y="20299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25–72 months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35624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&lt;10% churn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81344" y="2880360"/>
            <a:ext cx="24871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 customers rarely churn — they are sticky and high-value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bins=72? </a:t>
            </a:r>
            <a:pPr indent="0" marL="0">
              <a:buNone/>
            </a:pPr>
            <a:r>
              <a:rPr lang="en-US" sz="11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goes from 0–72 months. One bin per month gives the most granular view of when exactly customers are most likely to leave.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Contract Type &amp; Churn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sns.countplot(x='Contract', data=df, hue='Churn')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8074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417320"/>
            <a:ext cx="422910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62572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Retained: 2220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801368"/>
            <a:ext cx="3152775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6247" y="18013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</a:rPr>
              <a:t>Churned: 1655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8600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340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Year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2377440"/>
            <a:ext cx="2489835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3307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Retained: 1307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60320" y="2761488"/>
            <a:ext cx="316230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9702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</a:rPr>
              <a:t>Churned: 166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8503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3009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Year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3337560"/>
            <a:ext cx="3137535" cy="2743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1007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Retained: 1647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0" y="3721608"/>
            <a:ext cx="9144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24912" y="3721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C39A"/>
                </a:solidFill>
              </a:rPr>
              <a:t>Churned: 48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51960"/>
            <a:ext cx="8503920" cy="777240"/>
          </a:xfrm>
          <a:prstGeom prst="rect">
            <a:avLst/>
          </a:prstGeom>
          <a:solidFill>
            <a:srgbClr val="0D1B2A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425196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FINDING: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at ~43% vs only 3% for two-year contracts. Upselling customers from monthly to annual/biennial contracts is the single most impactful retention lever.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Services &amp; Churn (Multi-Plot)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91440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Subplot grid for 9 service features
</a:t>
            </a:r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= ['PhoneService','MultipleLines','InternetService','OnlineSecurity','OnlineBackup',
           'DeviceProtection','TechSupport','StreamingTV','StreamingMovies']
</a:t>
            </a:r>
            <a:pPr indent="0" marL="0">
              <a:buNone/>
            </a:pPr>
            <a:r>
              <a:rPr lang="en-US" sz="1000" dirty="0">
                <a:solidFill>
                  <a:srgbClr val="78D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axes = plt.subplots(n_rows, n_cols=3, figsize=(15, n_rows*4))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14600" y="1947672"/>
            <a:ext cx="475488" cy="2377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947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Internet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— ~42% leave despite premium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7452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94960" y="1947672"/>
            <a:ext cx="475488" cy="2377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947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Security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3774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security churn significantly more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80760" y="187452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75320" y="1947672"/>
            <a:ext cx="475488" cy="23774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476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HIGH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19659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Tech Support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37744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tech support correlates strongly with churn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2918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14600" y="3364992"/>
            <a:ext cx="475488" cy="23774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14600" y="33649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LOW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383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Service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difference in churn between subscribers and non-subscribers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2918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94960" y="3364992"/>
            <a:ext cx="475488" cy="23774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94960" y="33649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91840" y="3383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TV/Movies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91840" y="379476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users churn at similar rates — not a differentiator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80760" y="3291840"/>
            <a:ext cx="2743200" cy="1280160"/>
          </a:xfrm>
          <a:prstGeom prst="rect">
            <a:avLst/>
          </a:prstGeom>
          <a:solidFill>
            <a:srgbClr val="1A2A3A"/>
          </a:solidFill>
          <a:ln w="12700">
            <a:solidFill>
              <a:srgbClr val="F9E79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75320" y="3364992"/>
            <a:ext cx="475488" cy="237744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33649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MED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3383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Protection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3794760"/>
            <a:ext cx="2578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device protection are slightly more likely to churn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Analysis: Payment Method &amp; Churn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 = sns.countplot(x='PaymentMethod', hue='Churn', data=df)  </a:t>
            </a:r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plt.xticks(rotation=45) used to fit long labels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85039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618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0" y="1280160"/>
            <a:ext cx="295808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7004" y="1280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1294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627632"/>
            <a:ext cx="2448306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7226" y="162763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6167"/>
                </a:solidFill>
              </a:rPr>
              <a:t>1071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1344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churn — 45% leave. Manual payment = less commitment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093976"/>
            <a:ext cx="85039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148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Mailed Check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0" y="2167128"/>
            <a:ext cx="2980944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9864" y="216712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1304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0" y="2514600"/>
            <a:ext cx="58978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78708" y="2514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258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223113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(~17%). Traditional customers tend to be more loyal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980944"/>
            <a:ext cx="85039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35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Transfer (Auto)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0" y="3054096"/>
            <a:ext cx="2939796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28716" y="305409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1286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0" y="3401568"/>
            <a:ext cx="589788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8708" y="34015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258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11810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churn — auto-pay reduces friction and accidental cancellations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867912"/>
            <a:ext cx="850392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9227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(Auto)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0" y="3941064"/>
            <a:ext cx="294894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7860" y="39410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1290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0" y="4288536"/>
            <a:ext cx="5303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42885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232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400507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churn (~15%). Automatic payments = higher retention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 = Retained  |  Red/Green = Churned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— What We Found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188720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86968" y="87782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 is 26.54%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6968" y="128016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1 in 4 customers leaves — significant revenue risk for the telecom company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188720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21808" y="877824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churn 75% more than non-seniors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21808" y="1280160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senior customers churn vs 24% of non-seniors. Dedicated plans or support needed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94560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25786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6968" y="226771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(0–12 months) are most vulnerable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968" y="267004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spikes in early months — the onboarding experience and early value delivery are critical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578608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5786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21808" y="2267712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drive 43% churn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670048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only 3% for 2-year contracts. Converting customers to longer contracts is the highest ROI action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584448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9768" y="396849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" y="365760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the most (45%)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86968" y="405993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customers (credit card/bank transfer) are far more retained — incentivize autopay enrollment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584448"/>
            <a:ext cx="4206240" cy="1261872"/>
          </a:xfrm>
          <a:prstGeom prst="rect">
            <a:avLst/>
          </a:prstGeom>
          <a:solidFill>
            <a:srgbClr val="1A2A3A"/>
          </a:solidFill>
          <a:ln w="12700">
            <a:solidFill>
              <a:srgbClr val="00A89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968496"/>
            <a:ext cx="347472" cy="34747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968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21808" y="3657600"/>
            <a:ext cx="3547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+ no security/support = high risk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4059936"/>
            <a:ext cx="35478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internet subscribers without add-ons churn frequently — bundle offers can address this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04672"/>
            <a:ext cx="64008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1005840"/>
            <a:ext cx="59436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058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70432" y="85953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Upgrade Campaigns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118872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discounts to month-to-month customers to switch to 1-year or 2-year plans. A 10% discount can save 43% churn — strong ROI.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645920"/>
            <a:ext cx="64008" cy="74980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1847088"/>
            <a:ext cx="594360" cy="25603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4708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70432" y="1700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 Dedicated Plans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02996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senior-friendly packages with simplified billing, priority tech support, and loyalty bonuses to reduce the 42% churn in this segment.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48716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487168"/>
            <a:ext cx="64008" cy="74980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" y="2688336"/>
            <a:ext cx="594360" cy="25603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688336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70432" y="25420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Program (0–12 months)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70432" y="287121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relationship managers or automated check-ins for new customers in their first year. Early engagement reduces the new-customer churn spike.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32841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28416"/>
            <a:ext cx="64008" cy="749808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" y="3529584"/>
            <a:ext cx="594360" cy="25603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529584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70432" y="3383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Auto-Pay Incentives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70432" y="371246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bill discounts for electronic check users who switch to auto-pay (credit card/bank transfer) to reduce the 45% electronic-check churn rate.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16966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4169664"/>
            <a:ext cx="64008" cy="74980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8912" y="4370832"/>
            <a:ext cx="594360" cy="256032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4370832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70432" y="42245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Support Bundles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70432" y="4553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Online Security + Tech Support with Fiber Optic plans at reduced rates to increase stickiness and reduce churn for high-paying customers.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657600"/>
            <a:ext cx="2743200" cy="27432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85800"/>
            <a:ext cx="82296" cy="18288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5836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Next Steps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8503920" cy="960120"/>
          </a:xfrm>
          <a:prstGeom prst="rect">
            <a:avLst/>
          </a:prstGeom>
          <a:solidFill>
            <a:srgbClr val="1A2A3A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3172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demonstrated that Python's data science stack (Pandas + Seaborn + Matplotlib) can extract powerful business insights from raw telecom data. The three-step workflow — </a:t>
            </a:r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→ visualize → interpret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identified that contract type, tenure, and senior citizen status are the strongest churn predictors.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40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encode categoricals for ML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245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 — Logistic Regression / Random Forest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26864"/>
            <a:ext cx="228600" cy="2286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6085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churn prediction API for real-time scoring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Churn Analysis</dc:title>
  <dc:subject>PptxGenJS Presentation</dc:subject>
  <dc:creator>Ayush</dc:creator>
  <cp:lastModifiedBy>Ayush</cp:lastModifiedBy>
  <cp:revision>1</cp:revision>
  <dcterms:created xsi:type="dcterms:W3CDTF">2026-06-08T19:35:48Z</dcterms:created>
  <dcterms:modified xsi:type="dcterms:W3CDTF">2026-06-08T19:35:48Z</dcterms:modified>
</cp:coreProperties>
</file>